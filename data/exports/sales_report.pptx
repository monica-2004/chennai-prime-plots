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3200400"/>
          </a:xfrm>
          <a:prstGeom prst="rect">
            <a:avLst/>
          </a:prstGeom>
          <a:noFill/>
        </p:spPr>
        <p:txBody>
          <a:bodyPr wrap="square">
            <a:spAutoFit/>
          </a:bodyPr>
          <a:lstStyle/>
          <a:p>
            <a:pPr>
              <a:defRPr b="1" sz="4000">
                <a:solidFill>
                  <a:srgbClr val="38BDF8"/>
                </a:solidFill>
              </a:defRPr>
            </a:pPr>
            <a:r>
              <a:t>⚡ VeriAnalyst</a:t>
            </a:r>
          </a:p>
          <a:p>
            <a:pPr>
              <a:defRPr b="1" sz="2800">
                <a:solidFill>
                  <a:srgbClr val="F8FAFC"/>
                </a:solidFill>
              </a:defRPr>
            </a:pPr>
            <a:r>
              <a:t>Automated Analytical Report: sales.csv</a:t>
            </a:r>
          </a:p>
          <a:p>
            <a:pPr>
              <a:defRPr sz="1500">
                <a:solidFill>
                  <a:srgbClr val="94A3B8"/>
                </a:solidFill>
              </a:defRPr>
            </a:pPr>
            <a:r>
              <a:t>Generated on September 29, 2026 · Independently Grounded &amp; Verified via Dual-Path Audit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731520"/>
          </a:xfrm>
          <a:prstGeom prst="rect">
            <a:avLst/>
          </a:prstGeom>
          <a:noFill/>
        </p:spPr>
        <p:txBody>
          <a:bodyPr wrap="none">
            <a:spAutoFit/>
          </a:bodyPr>
          <a:lstStyle/>
          <a:p>
            <a:pPr>
              <a:defRPr b="1" sz="2400">
                <a:solidFill>
                  <a:srgbClr val="38BDF8"/>
                </a:solidFill>
              </a:defRPr>
            </a:pPr>
            <a:r>
              <a:t>Executive Summary &amp; Performance KPIs</a:t>
            </a:r>
          </a:p>
        </p:txBody>
      </p:sp>
      <p:sp>
        <p:nvSpPr>
          <p:cNvPr id="4" name="Rounded Rectangle 3"/>
          <p:cNvSpPr/>
          <p:nvPr/>
        </p:nvSpPr>
        <p:spPr>
          <a:xfrm>
            <a:off x="914400" y="146304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2377440" cy="1280160"/>
          </a:xfrm>
          <a:prstGeom prst="rect">
            <a:avLst/>
          </a:prstGeom>
          <a:noFill/>
        </p:spPr>
        <p:txBody>
          <a:bodyPr wrap="none" anchor="ctr">
            <a:spAutoFit/>
          </a:bodyPr>
          <a:lstStyle/>
          <a:p>
            <a:pPr algn="ctr">
              <a:defRPr b="1" sz="2400">
                <a:solidFill>
                  <a:srgbClr val="38BDF8"/>
                </a:solidFill>
              </a:defRPr>
            </a:pPr>
            <a:r>
              <a:t>6</a:t>
            </a:r>
          </a:p>
          <a:p>
            <a:pPr algn="ctr">
              <a:defRPr sz="900">
                <a:solidFill>
                  <a:srgbClr val="94A3B8"/>
                </a:solidFill>
              </a:defRPr>
            </a:pPr>
            <a:r>
              <a:t>TOTAL ROWS</a:t>
            </a:r>
          </a:p>
        </p:txBody>
      </p:sp>
      <p:sp>
        <p:nvSpPr>
          <p:cNvPr id="6" name="Rounded Rectangle 5"/>
          <p:cNvSpPr/>
          <p:nvPr/>
        </p:nvSpPr>
        <p:spPr>
          <a:xfrm>
            <a:off x="3566160" y="146304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463040"/>
            <a:ext cx="2377440" cy="1280160"/>
          </a:xfrm>
          <a:prstGeom prst="rect">
            <a:avLst/>
          </a:prstGeom>
          <a:noFill/>
        </p:spPr>
        <p:txBody>
          <a:bodyPr wrap="none" anchor="ctr">
            <a:spAutoFit/>
          </a:bodyPr>
          <a:lstStyle/>
          <a:p>
            <a:pPr algn="ctr">
              <a:defRPr b="1" sz="2400">
                <a:solidFill>
                  <a:srgbClr val="818CF8"/>
                </a:solidFill>
              </a:defRPr>
            </a:pPr>
            <a:r>
              <a:t>5</a:t>
            </a:r>
          </a:p>
          <a:p>
            <a:pPr algn="ctr">
              <a:defRPr sz="900">
                <a:solidFill>
                  <a:srgbClr val="94A3B8"/>
                </a:solidFill>
              </a:defRPr>
            </a:pPr>
            <a:r>
              <a:t>COLUMNS</a:t>
            </a:r>
          </a:p>
        </p:txBody>
      </p:sp>
      <p:sp>
        <p:nvSpPr>
          <p:cNvPr id="8" name="Rounded Rectangle 7"/>
          <p:cNvSpPr/>
          <p:nvPr/>
        </p:nvSpPr>
        <p:spPr>
          <a:xfrm>
            <a:off x="6217920" y="146304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463040"/>
            <a:ext cx="2377440" cy="1280160"/>
          </a:xfrm>
          <a:prstGeom prst="rect">
            <a:avLst/>
          </a:prstGeom>
          <a:noFill/>
        </p:spPr>
        <p:txBody>
          <a:bodyPr wrap="none" anchor="ctr">
            <a:spAutoFit/>
          </a:bodyPr>
          <a:lstStyle/>
          <a:p>
            <a:pPr algn="ctr">
              <a:defRPr b="1" sz="2400">
                <a:solidFill>
                  <a:srgbClr val="34D399"/>
                </a:solidFill>
              </a:defRPr>
            </a:pPr>
            <a:r>
              <a:t>692.1</a:t>
            </a:r>
          </a:p>
          <a:p>
            <a:pPr algn="ctr">
              <a:defRPr sz="900">
                <a:solidFill>
                  <a:srgbClr val="94A3B8"/>
                </a:solidFill>
              </a:defRPr>
            </a:pPr>
            <a:r>
              <a:t>AVG REVENUE</a:t>
            </a:r>
          </a:p>
        </p:txBody>
      </p:sp>
      <p:sp>
        <p:nvSpPr>
          <p:cNvPr id="10" name="Rounded Rectangle 9"/>
          <p:cNvSpPr/>
          <p:nvPr/>
        </p:nvSpPr>
        <p:spPr>
          <a:xfrm>
            <a:off x="8869680" y="146304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0" y="1463040"/>
            <a:ext cx="2377440" cy="1280160"/>
          </a:xfrm>
          <a:prstGeom prst="rect">
            <a:avLst/>
          </a:prstGeom>
          <a:noFill/>
        </p:spPr>
        <p:txBody>
          <a:bodyPr wrap="none" anchor="ctr">
            <a:spAutoFit/>
          </a:bodyPr>
          <a:lstStyle/>
          <a:p>
            <a:pPr algn="ctr">
              <a:defRPr b="1" sz="2400">
                <a:solidFill>
                  <a:srgbClr val="F59E0B"/>
                </a:solidFill>
              </a:defRPr>
            </a:pPr>
            <a:r>
              <a:t>4</a:t>
            </a:r>
          </a:p>
          <a:p>
            <a:pPr algn="ctr">
              <a:defRPr sz="900">
                <a:solidFill>
                  <a:srgbClr val="94A3B8"/>
                </a:solidFill>
              </a:defRPr>
            </a:pPr>
            <a:r>
              <a:t>VERIFIED INSIGHTS</a:t>
            </a:r>
          </a:p>
        </p:txBody>
      </p:sp>
      <p:sp>
        <p:nvSpPr>
          <p:cNvPr id="12" name="Rounded Rectangle 11"/>
          <p:cNvSpPr/>
          <p:nvPr/>
        </p:nvSpPr>
        <p:spPr>
          <a:xfrm>
            <a:off x="914400" y="3017520"/>
            <a:ext cx="10332720" cy="3108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200400"/>
            <a:ext cx="9966960" cy="2743200"/>
          </a:xfrm>
          <a:prstGeom prst="rect">
            <a:avLst/>
          </a:prstGeom>
          <a:noFill/>
        </p:spPr>
        <p:txBody>
          <a:bodyPr wrap="square">
            <a:spAutoFit/>
          </a:bodyPr>
          <a:lstStyle/>
          <a:p>
            <a:pPr>
              <a:defRPr b="1" sz="1600">
                <a:solidFill>
                  <a:srgbClr val="38BDF8"/>
                </a:solidFill>
              </a:defRPr>
            </a:pPr>
            <a:r>
              <a:t>Grounded Analytical Narrative</a:t>
            </a:r>
          </a:p>
          <a:p>
            <a:pPr>
              <a:defRPr sz="1300">
                <a:solidFill>
                  <a:srgbClr val="E2E8F0"/>
                </a:solidFill>
              </a:defRPr>
            </a:pPr>
            <a:r>
              <a:t>This executive report highlights key insights from the 'sales.csv' dataset. The average revenue per transaction is $692.1, with a median of $600.0. The highest revenue was generated by the Wireless Headphones product, totaling $1,250.5. In terms of units sold, the Cotton T-Shirt had the highest with 32 units sold. Revenue breakdown by category is also provided, and we've tracked the revenue trend over time, showing how revenue has progressed across different months.</a:t>
            </a:r>
          </a:p>
          <a:p>
            <a:br/>
            <a:pPr>
              <a:defRPr sz="1000">
                <a:solidFill>
                  <a:srgbClr val="34D399"/>
                </a:solidFill>
              </a:defRPr>
            </a:pPr>
            <a:r>
              <a:t>✓ All statements verified against raw dataset. No AI hallucination.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32720" cy="731520"/>
          </a:xfrm>
          <a:prstGeom prst="rect">
            <a:avLst/>
          </a:prstGeom>
          <a:noFill/>
        </p:spPr>
        <p:txBody>
          <a:bodyPr wrap="none">
            <a:spAutoFit/>
          </a:bodyPr>
          <a:lstStyle/>
          <a:p>
            <a:pPr>
              <a:defRPr b="1" sz="2200">
                <a:solidFill>
                  <a:srgbClr val="38BDF8"/>
                </a:solidFill>
              </a:defRPr>
            </a:pPr>
            <a:r>
              <a:t>📊 Top Revenue by Product Name</a:t>
            </a:r>
          </a:p>
        </p:txBody>
      </p:sp>
      <p:pic>
        <p:nvPicPr>
          <p:cNvPr id="4" name="Picture 3" descr="image.png"/>
          <p:cNvPicPr>
            <a:picLocks noChangeAspect="1"/>
          </p:cNvPicPr>
          <p:nvPr/>
        </p:nvPicPr>
        <p:blipFill>
          <a:blip r:embed="rId2"/>
          <a:stretch>
            <a:fillRect/>
          </a:stretch>
        </p:blipFill>
        <p:spPr>
          <a:xfrm>
            <a:off x="914400" y="1371600"/>
            <a:ext cx="6217920" cy="4572000"/>
          </a:xfrm>
          <a:prstGeom prst="rect">
            <a:avLst/>
          </a:prstGeom>
        </p:spPr>
      </p:pic>
      <p:sp>
        <p:nvSpPr>
          <p:cNvPr id="5" name="Rounded Rectangle 4"/>
          <p:cNvSpPr/>
          <p:nvPr/>
        </p:nvSpPr>
        <p:spPr>
          <a:xfrm>
            <a:off x="7498079" y="1371600"/>
            <a:ext cx="3749039"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554480"/>
            <a:ext cx="3383280" cy="4206240"/>
          </a:xfrm>
          <a:prstGeom prst="rect">
            <a:avLst/>
          </a:prstGeom>
          <a:noFill/>
        </p:spPr>
        <p:txBody>
          <a:bodyPr wrap="square">
            <a:spAutoFit/>
          </a:bodyPr>
          <a:lstStyle/>
          <a:p>
            <a:pPr>
              <a:defRPr b="1" sz="1400">
                <a:solidFill>
                  <a:srgbClr val="34D399"/>
                </a:solidFill>
              </a:defRPr>
            </a:pPr>
            <a:r>
              <a:t>Audit Verification</a:t>
            </a:r>
          </a:p>
          <a:p>
            <a:pPr>
              <a:defRPr b="1" sz="1100">
                <a:solidFill>
                  <a:srgbClr val="F8FAFC"/>
                </a:solidFill>
              </a:defRPr>
            </a:pPr>
            <a:r>
              <a:t>Status: ✓ Exact Match</a:t>
            </a:r>
          </a:p>
          <a:p>
            <a:br/>
            <a:pPr>
              <a:defRPr sz="1200">
                <a:solidFill>
                  <a:srgbClr val="CBD5E1"/>
                </a:solidFill>
              </a:defRPr>
            </a:pPr>
            <a:r>
              <a:t>Key Finding:</a:t>
            </a:r>
            <a:br/>
            <a:r>
              <a:t>The product name with the highest revenue is Wireless Headphones with 1,250.5.</a:t>
            </a:r>
          </a:p>
          <a:p>
            <a:br/>
            <a:pPr>
              <a:defRPr sz="1000">
                <a:solidFill>
                  <a:srgbClr val="94A3B8"/>
                </a:solidFill>
              </a:defRPr>
            </a:pPr>
            <a:r>
              <a:t>• Operation: MAX</a:t>
            </a:r>
            <a:br/>
            <a:r>
              <a:t>• Target Column: revenue</a:t>
            </a:r>
            <a:br/>
            <a:r>
              <a:t>• Group By: product_name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32720" cy="731520"/>
          </a:xfrm>
          <a:prstGeom prst="rect">
            <a:avLst/>
          </a:prstGeom>
          <a:noFill/>
        </p:spPr>
        <p:txBody>
          <a:bodyPr wrap="none">
            <a:spAutoFit/>
          </a:bodyPr>
          <a:lstStyle/>
          <a:p>
            <a:pPr>
              <a:defRPr b="1" sz="2200">
                <a:solidFill>
                  <a:srgbClr val="38BDF8"/>
                </a:solidFill>
              </a:defRPr>
            </a:pPr>
            <a:r>
              <a:t>📊 Top Units Sold by Product Name</a:t>
            </a:r>
          </a:p>
        </p:txBody>
      </p:sp>
      <p:pic>
        <p:nvPicPr>
          <p:cNvPr id="4" name="Picture 3" descr="image.png"/>
          <p:cNvPicPr>
            <a:picLocks noChangeAspect="1"/>
          </p:cNvPicPr>
          <p:nvPr/>
        </p:nvPicPr>
        <p:blipFill>
          <a:blip r:embed="rId2"/>
          <a:stretch>
            <a:fillRect/>
          </a:stretch>
        </p:blipFill>
        <p:spPr>
          <a:xfrm>
            <a:off x="914400" y="1371600"/>
            <a:ext cx="6217920" cy="4572000"/>
          </a:xfrm>
          <a:prstGeom prst="rect">
            <a:avLst/>
          </a:prstGeom>
        </p:spPr>
      </p:pic>
      <p:sp>
        <p:nvSpPr>
          <p:cNvPr id="5" name="Rounded Rectangle 4"/>
          <p:cNvSpPr/>
          <p:nvPr/>
        </p:nvSpPr>
        <p:spPr>
          <a:xfrm>
            <a:off x="7498079" y="1371600"/>
            <a:ext cx="3749039"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554480"/>
            <a:ext cx="3383280" cy="4206240"/>
          </a:xfrm>
          <a:prstGeom prst="rect">
            <a:avLst/>
          </a:prstGeom>
          <a:noFill/>
        </p:spPr>
        <p:txBody>
          <a:bodyPr wrap="square">
            <a:spAutoFit/>
          </a:bodyPr>
          <a:lstStyle/>
          <a:p>
            <a:pPr>
              <a:defRPr b="1" sz="1400">
                <a:solidFill>
                  <a:srgbClr val="34D399"/>
                </a:solidFill>
              </a:defRPr>
            </a:pPr>
            <a:r>
              <a:t>Audit Verification</a:t>
            </a:r>
          </a:p>
          <a:p>
            <a:pPr>
              <a:defRPr b="1" sz="1100">
                <a:solidFill>
                  <a:srgbClr val="F8FAFC"/>
                </a:solidFill>
              </a:defRPr>
            </a:pPr>
            <a:r>
              <a:t>Status: ✓ Exact Match</a:t>
            </a:r>
          </a:p>
          <a:p>
            <a:br/>
            <a:pPr>
              <a:defRPr sz="1200">
                <a:solidFill>
                  <a:srgbClr val="CBD5E1"/>
                </a:solidFill>
              </a:defRPr>
            </a:pPr>
            <a:r>
              <a:t>Key Finding:</a:t>
            </a:r>
            <a:br/>
            <a:r>
              <a:t>The product name with the highest units sold is Cotton T-Shirt with 32.</a:t>
            </a:r>
          </a:p>
          <a:p>
            <a:br/>
            <a:pPr>
              <a:defRPr sz="1000">
                <a:solidFill>
                  <a:srgbClr val="94A3B8"/>
                </a:solidFill>
              </a:defRPr>
            </a:pPr>
            <a:r>
              <a:t>• Operation: MAX</a:t>
            </a:r>
            <a:br/>
            <a:r>
              <a:t>• Target Column: units_sold</a:t>
            </a:r>
            <a:br/>
            <a:r>
              <a:t>• Group By: product_name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32720" cy="731520"/>
          </a:xfrm>
          <a:prstGeom prst="rect">
            <a:avLst/>
          </a:prstGeom>
          <a:noFill/>
        </p:spPr>
        <p:txBody>
          <a:bodyPr wrap="none">
            <a:spAutoFit/>
          </a:bodyPr>
          <a:lstStyle/>
          <a:p>
            <a:pPr>
              <a:defRPr b="1" sz="2200">
                <a:solidFill>
                  <a:srgbClr val="38BDF8"/>
                </a:solidFill>
              </a:defRPr>
            </a:pPr>
            <a:r>
              <a:t>📊 Total Revenue by Category</a:t>
            </a:r>
          </a:p>
        </p:txBody>
      </p:sp>
      <p:pic>
        <p:nvPicPr>
          <p:cNvPr id="4" name="Picture 3" descr="image.png"/>
          <p:cNvPicPr>
            <a:picLocks noChangeAspect="1"/>
          </p:cNvPicPr>
          <p:nvPr/>
        </p:nvPicPr>
        <p:blipFill>
          <a:blip r:embed="rId2"/>
          <a:stretch>
            <a:fillRect/>
          </a:stretch>
        </p:blipFill>
        <p:spPr>
          <a:xfrm>
            <a:off x="914400" y="1371600"/>
            <a:ext cx="6217920" cy="4572000"/>
          </a:xfrm>
          <a:prstGeom prst="rect">
            <a:avLst/>
          </a:prstGeom>
        </p:spPr>
      </p:pic>
      <p:sp>
        <p:nvSpPr>
          <p:cNvPr id="5" name="Rounded Rectangle 4"/>
          <p:cNvSpPr/>
          <p:nvPr/>
        </p:nvSpPr>
        <p:spPr>
          <a:xfrm>
            <a:off x="7498079" y="1371600"/>
            <a:ext cx="3749039"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554480"/>
            <a:ext cx="3383280" cy="4206240"/>
          </a:xfrm>
          <a:prstGeom prst="rect">
            <a:avLst/>
          </a:prstGeom>
          <a:noFill/>
        </p:spPr>
        <p:txBody>
          <a:bodyPr wrap="square">
            <a:spAutoFit/>
          </a:bodyPr>
          <a:lstStyle/>
          <a:p>
            <a:pPr>
              <a:defRPr b="1" sz="1400">
                <a:solidFill>
                  <a:srgbClr val="34D399"/>
                </a:solidFill>
              </a:defRPr>
            </a:pPr>
            <a:r>
              <a:t>Audit Verification</a:t>
            </a:r>
          </a:p>
          <a:p>
            <a:pPr>
              <a:defRPr b="1" sz="1100">
                <a:solidFill>
                  <a:srgbClr val="F8FAFC"/>
                </a:solidFill>
              </a:defRPr>
            </a:pPr>
            <a:r>
              <a:t>Status: ✓ Exact Match</a:t>
            </a:r>
          </a:p>
          <a:p>
            <a:br/>
            <a:pPr>
              <a:defRPr sz="1200">
                <a:solidFill>
                  <a:srgbClr val="CBD5E1"/>
                </a:solidFill>
              </a:defRPr>
            </a:pPr>
            <a:r>
              <a:t>Key Finding:</a:t>
            </a:r>
            <a:br/>
            <a:r>
              <a:t>Total revenue breakdown computed across 3 category segments.</a:t>
            </a:r>
          </a:p>
          <a:p>
            <a:br/>
            <a:pPr>
              <a:defRPr sz="1000">
                <a:solidFill>
                  <a:srgbClr val="94A3B8"/>
                </a:solidFill>
              </a:defRPr>
            </a:pPr>
            <a:r>
              <a:t>• Operation: SUM</a:t>
            </a:r>
            <a:br/>
            <a:r>
              <a:t>• Target Column: revenue</a:t>
            </a:r>
            <a:br/>
            <a:r>
              <a:t>• Group By: category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32720" cy="731520"/>
          </a:xfrm>
          <a:prstGeom prst="rect">
            <a:avLst/>
          </a:prstGeom>
          <a:noFill/>
        </p:spPr>
        <p:txBody>
          <a:bodyPr wrap="none">
            <a:spAutoFit/>
          </a:bodyPr>
          <a:lstStyle/>
          <a:p>
            <a:pPr>
              <a:defRPr b="1" sz="2200">
                <a:solidFill>
                  <a:srgbClr val="38BDF8"/>
                </a:solidFill>
              </a:defRPr>
            </a:pPr>
            <a:r>
              <a:t>📊 Revenue Trend over Month</a:t>
            </a:r>
          </a:p>
        </p:txBody>
      </p:sp>
      <p:pic>
        <p:nvPicPr>
          <p:cNvPr id="4" name="Picture 3" descr="image.png"/>
          <p:cNvPicPr>
            <a:picLocks noChangeAspect="1"/>
          </p:cNvPicPr>
          <p:nvPr/>
        </p:nvPicPr>
        <p:blipFill>
          <a:blip r:embed="rId2"/>
          <a:stretch>
            <a:fillRect/>
          </a:stretch>
        </p:blipFill>
        <p:spPr>
          <a:xfrm>
            <a:off x="914400" y="1371600"/>
            <a:ext cx="6217920" cy="4572000"/>
          </a:xfrm>
          <a:prstGeom prst="rect">
            <a:avLst/>
          </a:prstGeom>
        </p:spPr>
      </p:pic>
      <p:sp>
        <p:nvSpPr>
          <p:cNvPr id="5" name="Rounded Rectangle 4"/>
          <p:cNvSpPr/>
          <p:nvPr/>
        </p:nvSpPr>
        <p:spPr>
          <a:xfrm>
            <a:off x="7498079" y="1371600"/>
            <a:ext cx="3749039"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554480"/>
            <a:ext cx="3383280" cy="4206240"/>
          </a:xfrm>
          <a:prstGeom prst="rect">
            <a:avLst/>
          </a:prstGeom>
          <a:noFill/>
        </p:spPr>
        <p:txBody>
          <a:bodyPr wrap="square">
            <a:spAutoFit/>
          </a:bodyPr>
          <a:lstStyle/>
          <a:p>
            <a:pPr>
              <a:defRPr b="1" sz="1400">
                <a:solidFill>
                  <a:srgbClr val="34D399"/>
                </a:solidFill>
              </a:defRPr>
            </a:pPr>
            <a:r>
              <a:t>Audit Verification</a:t>
            </a:r>
          </a:p>
          <a:p>
            <a:pPr>
              <a:defRPr b="1" sz="1100">
                <a:solidFill>
                  <a:srgbClr val="F8FAFC"/>
                </a:solidFill>
              </a:defRPr>
            </a:pPr>
            <a:r>
              <a:t>Status: ✓ Exact Match</a:t>
            </a:r>
          </a:p>
          <a:p>
            <a:br/>
            <a:pPr>
              <a:defRPr sz="1200">
                <a:solidFill>
                  <a:srgbClr val="CBD5E1"/>
                </a:solidFill>
              </a:defRPr>
            </a:pPr>
            <a:r>
              <a:t>Key Finding:</a:t>
            </a:r>
            <a:br/>
            <a:r>
              <a:t>Tracked revenue progression across time periods in 'month'.</a:t>
            </a:r>
          </a:p>
          <a:p>
            <a:br/>
            <a:pPr>
              <a:defRPr sz="1000">
                <a:solidFill>
                  <a:srgbClr val="94A3B8"/>
                </a:solidFill>
              </a:defRPr>
            </a:pPr>
            <a:r>
              <a:t>• Operation: SUM</a:t>
            </a:r>
            <a:br/>
            <a:r>
              <a:t>• Target Column: revenue</a:t>
            </a:r>
            <a:br/>
            <a:r>
              <a:t>• Group By: month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